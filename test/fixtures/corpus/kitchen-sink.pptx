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10"/>
    <p:sldId id="288" r:id="rId11"/>
    <p:sldId id="274" r:id="rId12"/>
    <p:sldId id="309" r:id="rId13"/>
    <p:sldId id="281" r:id="rId14"/>
    <p:sldId id="323" r:id="rId15"/>
    <p:sldId id="316" r:id="rId16"/>
    <p:sldId id="295" r:id="rId17"/>
    <p:sldId id="302" r:id="rId1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Relationship Id="rId11" Type="http://schemas.openxmlformats.org/officeDocument/2006/relationships/slide" Target="slides/slide4.xml"/><Relationship Id="rId12" Type="http://schemas.openxmlformats.org/officeDocument/2006/relationships/slide" Target="slides/slide2.xml"/><Relationship Id="rId13" Type="http://schemas.openxmlformats.org/officeDocument/2006/relationships/slide" Target="slides/slide7.xml"/><Relationship Id="rId14" Type="http://schemas.openxmlformats.org/officeDocument/2006/relationships/slide" Target="slides/slide3.xml"/><Relationship Id="rId15" Type="http://schemas.openxmlformats.org/officeDocument/2006/relationships/slide" Target="slides/slide9.xml"/><Relationship Id="rId16" Type="http://schemas.openxmlformats.org/officeDocument/2006/relationships/slide" Target="slides/slide8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 dirty="0"/>
              <a:t>Propulsion output by quarter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Warp core output (TD)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2369</c:v>
                </c:pt>
                <c:pt idx="1">
                  <c:v>Q2 2369</c:v>
                </c:pt>
                <c:pt idx="2">
                  <c:v>Q3 2369</c:v>
                </c:pt>
                <c:pt idx="3">
                  <c:v>Q4 2369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1.4</c:v>
                </c:pt>
                <c:pt idx="2">
                  <c:v>1.9</c:v>
                </c:pt>
                <c:pt idx="3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Impulse reserve (TD)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2369</c:v>
                </c:pt>
                <c:pt idx="1">
                  <c:v>Q2 2369</c:v>
                </c:pt>
                <c:pt idx="2">
                  <c:v>Q3 2369</c:v>
                </c:pt>
                <c:pt idx="3">
                  <c:v>Q4 2369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</c:v>
                </c:pt>
                <c:pt idx="1">
                  <c:v>0.75</c:v>
                </c:pt>
                <c:pt idx="2">
                  <c:v>0.9</c:v>
                </c:pt>
                <c:pt idx="3">
                  <c:v>0.95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  <c:dispBlanksAs val="gap"/>
  </c:chart>
</c:chartSpace>
</file>

<file path=ppt/diagrams/colors1.xml><?xml version="1.0" encoding="utf-8"?>
<dgm:colorsDef xmlns:dgm="http://schemas.openxmlformats.org/drawingml/2006/diagram" xmlns:a="http://schemas.openxmlformats.org/drawingml/2006/main" uniqueId="urn:example/officeart/2005/8/colors/accent1_1">
  <dgm:title val="Accent 1"/>
  <dgm:desc val=""/>
  <dgm:catLst/>
  <dgm:styleLbl name="node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1" type="doc">
      <dgm:prSet/>
      <dgm:spPr/>
      <dgm:t>
        <a:bodyPr/>
        <a:lstStyle/>
        <a:p>
          <a:endParaRPr lang="en-US"/>
        </a:p>
      </dgm:t>
    </dgm:pt>
    <dgm:pt modelId="2">
      <dgm:prSet phldrT="[Text]"/>
      <dgm:spPr/>
      <dgm:t>
        <a:bodyPr/>
        <a:lstStyle/>
        <a:p>
          <a:r>
            <a:rPr lang="en-US" dirty="0"/>
            <a:t>Intake survey</a:t>
          </a:r>
        </a:p>
      </dgm:t>
    </dgm:pt>
    <dgm:pt modelId="3">
      <dgm:prSet phldrT="[Text]"/>
      <dgm:spPr/>
      <dgm:t>
        <a:bodyPr/>
        <a:lstStyle/>
        <a:p>
          <a:r>
            <a:rPr lang="en-US" dirty="0"/>
            <a:t>Structural teardown</a:t>
          </a:r>
        </a:p>
      </dgm:t>
    </dgm:pt>
    <dgm:pt modelId="4">
      <dgm:prSet phldrT="[Text]"/>
      <dgm:spPr/>
      <dgm:t>
        <a:bodyPr/>
        <a:lstStyle/>
        <a:p>
          <a:r>
            <a:rPr lang="en-US" dirty="0"/>
            <a:t>Warp core recertification</a:t>
          </a:r>
        </a:p>
      </dgm:t>
    </dgm:pt>
    <dgm:pt modelId="5">
      <dgm:prSet phldrT="[Text]"/>
      <dgm:spPr/>
      <dgm:t>
        <a:bodyPr/>
        <a:lstStyle/>
        <a:p>
          <a:r>
            <a:rPr lang="en-US" dirty="0"/>
            <a:t>Shakedown cruise</a:t>
          </a:r>
        </a:p>
      </dgm:t>
    </dgm:pt>
  </dgm:ptLst>
  <dgm:cxnLst>
    <dgm:cxn modelId="100" srcId="1" destId="2" srcOrd="0" destOrd="0"/>
    <dgm:cxn modelId="101" srcId="1" destId="3" srcOrd="1" destOrd="0"/>
    <dgm:cxn modelId="102" srcId="1" destId="4" srcOrd="2" destOrd="0"/>
    <dgm:cxn modelId="103" srcId="1" destId="5" srcOrd="3" destOrd="0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example/officeart/2005/8/layout/process1">
  <dgm:title val="Refit process"/>
  <dgm:desc val=""/>
  <dgm:catLst/>
  <dgm:sampData>
    <dgm:dataModel>
      <dgm:ptLst/>
      <dgm:cxnLst/>
      <dgm:bg/>
      <dgm:whole/>
    </dgm:dataModel>
  </dgm:sampData>
  <dgm:layoutNode name="root">
    <dgm:alg type="lin"/>
    <dgm:shape/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example/officeart/2005/8/quickstyle/simple1">
  <dgm:title val="Simple"/>
  <dgm:desc val=""/>
  <dgm:catLst/>
  <dgm:styleLbl name="node0">
    <dgm:scene3d>
      <a:camera prst="orthographicFront"/>
      <a:lightRig rig="threePt" dir="t"/>
    </dgm:scene3d>
    <dgm:sp3d/>
    <dgm:txPr/>
    <dgm:style>
      <a:lnRef idx="0"/>
      <a:fillRef idx="1"/>
      <a:effectRef idx="0"/>
      <a:fontRef idx="minor"/>
    </dgm:style>
  </dgm:styleLbl>
</dgm:styleDef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Utopia Planitia Fleet Yards internal — not for distribution outside Starfleet Corps of Engineers.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4"/>
          </p:nvPr>
        </p:nvSpPr>
        <p:spPr>
          <a:xfrm>
            <a:off x="8685213" y="6356350"/>
            <a:ext cx="2367280" cy="365125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MASTER SLIDE NUMBER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00000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Refit Status — USS Enterprise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200000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Utopia Planitia Fleet Yards… Stardate 47988.1</a:t>
            </a:r>
          </a:p>
          <a:p>
            <a:r>
              <a:rPr lang="en-US" dirty="0"/>
              <a:t>Presented by Geordi La Forge, Chief Engineer</a:t>
            </a:r>
          </a:p>
        </p:txBody>
      </p:sp>
      <p:sp>
        <p:nvSpPr>
          <p:cNvPr id="4" name="Off-slide scratch"/>
          <p:cNvSpPr>
            <a:spLocks noGrp="1"/>
          </p:cNvSpPr>
          <p:nvPr/>
        </p:nvSpPr>
        <p:spPr>
          <a:xfrm>
            <a:off x="-6000000" y="1200000"/>
            <a:ext cx="4000000" cy="20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SCRATCH: do not present — pricing still unsigned</a:t>
            </a:r>
          </a:p>
          <a:p>
            <a:r>
              <a:rPr lang="en-US" dirty="0"/>
              <a:t>Ask Riker before the yards briefing.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The Utopia Planitia yards report that the plasma inter-</a:t>
            </a:r>
          </a:p>
          <a:p>
            <a:r>
              <a:rPr lang="en-US" dirty="0"/>
              <a:t>mix chamber tolerances have drifted by four microns since</a:t>
            </a:r>
          </a:p>
          <a:p>
            <a:r>
              <a:rPr lang="en-US" dirty="0"/>
              <a:t>the last refit, which the diagnostic subroutine flagged as</a:t>
            </a:r>
          </a:p>
          <a:p>
            <a:r>
              <a:rPr lang="en-US" dirty="0"/>
              <a:t>“within nominal” — a classiﬁcation the Daystrom Insti-</a:t>
            </a:r>
          </a:p>
          <a:p>
            <a:r>
              <a:rPr lang="en-US" dirty="0"/>
              <a:t>tute disputes. Warp ﬂux stability held at 99.7 %</a:t>
            </a:r>
          </a:p>
          <a:p>
            <a:r>
              <a:rPr lang="en-US" dirty="0"/>
              <a:t>across all eighteen test cycles… the variance sits in</a:t>
            </a:r>
          </a:p>
          <a:p>
            <a:r>
              <a:rPr lang="en-US" dirty="0"/>
              <a:t>the star­board nacelle, which Lt. Barclay rebuilt</a:t>
            </a:r>
          </a:p>
          <a:p>
            <a:r>
              <a:rPr lang="en-US" dirty="0"/>
              <a:t>in 2367 and which has never quite matched its twin.</a:t>
            </a:r>
          </a:p>
        </p:txBody>
      </p:sp>
      <p:sp>
        <p:nvSpPr>
          <p:cNvPr id="4" name="Aside 3"/>
          <p:cNvSpPr>
            <a:spLocks noGrp="1"/>
          </p:cNvSpPr>
          <p:nvPr/>
        </p:nvSpPr>
        <p:spPr>
          <a:xfrm>
            <a:off x="838200" y="5900000"/>
            <a:ext cx="10515600" cy="5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Captain Picard’s order: ‘no shortcuts on the containment ﬁeld’​ 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Propulsion output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700000" y="1500000"/>
          <a:ext cx="6000000" cy="4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allout 3"/>
          <p:cNvSpPr>
            <a:spLocks noGrp="1"/>
          </p:cNvSpPr>
          <p:nvPr/>
        </p:nvSpPr>
        <p:spPr>
          <a:xfrm>
            <a:off x="7200000" y="1800000"/>
            <a:ext cx="4200000" cy="20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Q3 is the number the board cares about: 1.9 teradynes, ahead of plan.</a:t>
            </a:r>
          </a:p>
          <a:p>
            <a:r>
              <a:rPr lang="en-US" dirty="0"/>
              <a:t>Source: Daystrom Institute telemetry, stardate 47901.2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lang="en-US" dirty="0"/>
              <a:t>Propulsion</a:t>
            </a:r>
          </a:p>
          <a:p>
            <a:pPr lvl="1">
              <a:buChar char="•"/>
            </a:pPr>
            <a:r>
              <a:rPr lang="en-US" dirty="0"/>
              <a:t>Warp field geometry</a:t>
            </a:r>
          </a:p>
          <a:p>
            <a:pPr lvl="2">
              <a:buChar char="•"/>
            </a:pPr>
            <a:r>
              <a:rPr lang="en-US" dirty="0"/>
              <a:t>Nacelle 2 plasma injectors</a:t>
            </a:r>
          </a:p>
          <a:p>
            <a:pPr lvl="3">
              <a:buChar char="•"/>
            </a:pPr>
            <a:r>
              <a:rPr lang="en-US" dirty="0"/>
              <a:t>Serial UP‑4471</a:t>
            </a:r>
          </a:p>
          <a:p>
            <a:pPr lvl="3">
              <a:buChar char="•"/>
            </a:pPr>
            <a:r>
              <a:rPr lang="en-US" dirty="0"/>
              <a:t>Serial UP‑4472</a:t>
            </a:r>
          </a:p>
          <a:p>
            <a:pPr>
              <a:buChar char="•"/>
            </a:pPr>
            <a:r>
              <a:rPr lang="en-US" dirty="0"/>
              <a:t>Structural</a:t>
            </a:r>
          </a:p>
          <a:p>
            <a:pPr lvl="1"/>
            <a:r>
              <a:rPr lang="en-US" dirty="0"/>
              <a:t>	Tab-indented line inside a bullet   </a:t>
            </a:r>
          </a:p>
          <a:p>
            <a:pPr lvl="1"/>
            <a:r>
              <a:rPr lang="en-US" dirty="0"/>
              <a:t>        Eight leading spaces, and trailing ones       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>
              <a:buChar char="•"/>
            </a:pPr>
            <a:r>
              <a:rPr lang="en-US" dirty="0"/>
              <a:t>Crew readiness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Imagery</a:t>
            </a:r>
          </a:p>
        </p:txBody>
      </p:sp>
      <p:pic>
        <p:nvPicPr>
          <p:cNvPr id="3" name="Picture 2" descr="Warp core output by quarter, 2364 to 2370, rising to 1.9 terady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600000"/>
            <a:ext cx="2400000" cy="2400000"/>
          </a:xfrm>
          <a:prstGeom prst="rect">
            <a:avLst/>
          </a:prstGeom>
        </p:spPr>
      </p:pic>
      <p:pic>
        <p:nvPicPr>
          <p:cNvPr id="4" name="image1.png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000" y="1600000"/>
            <a:ext cx="2400000" cy="240000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000" y="1600000"/>
            <a:ext cx="2400000" cy="2400000"/>
          </a:xfrm>
          <a:prstGeom prst="rect">
            <a:avLst/>
          </a:prstGeom>
        </p:spPr>
      </p:pic>
      <p:pic>
        <p:nvPicPr>
          <p:cNvPr id="6" name="avatar" descr="avat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000" y="1600000"/>
            <a:ext cx="1200000" cy="12000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 rot="1200000">
            <a:off x="6858000" y="3900000"/>
            <a:ext cx="4400000" cy="2000000"/>
            <a:chOff x="0" y="0"/>
            <a:chExt cx="1100000" cy="500000"/>
          </a:xfrm>
        </p:grpSpPr>
        <p:sp>
          <p:nvSpPr>
            <p:cNvPr id="8" name="Group label 1"/>
            <p:cNvSpPr>
              <a:spLocks noGrp="1"/>
            </p:cNvSpPr>
            <p:nvPr/>
          </p:nvSpPr>
          <p:spPr>
            <a:xfrm>
              <a:off x="0" y="0"/>
              <a:ext cx="1100000" cy="250000"/>
            </a:xfrm>
            <a:prstGeom prst="rect">
              <a:avLst/>
            </a:prstGeom>
          </p:spPr>
          <p:txBody>
            <a:bodyPr wrap="square"/>
            <a:lstStyle/>
            <a:p>
              <a:r>
                <a:rPr lang="en-US" dirty="0"/>
                <a:t>Nacelle 2, post-teardown</a:t>
              </a:r>
            </a:p>
          </p:txBody>
        </p:sp>
        <p:sp>
          <p:nvSpPr>
            <p:cNvPr id="9" name="Group label 2"/>
            <p:cNvSpPr>
              <a:spLocks noGrp="1"/>
            </p:cNvSpPr>
            <p:nvPr/>
          </p:nvSpPr>
          <p:spPr>
            <a:xfrm>
              <a:off x="0" y="250000"/>
              <a:ext cx="1100000" cy="250000"/>
            </a:xfrm>
            <a:prstGeom prst="rect">
              <a:avLst/>
            </a:prstGeom>
          </p:spPr>
          <p:txBody>
            <a:bodyPr wrap="square"/>
            <a:lstStyle/>
            <a:p>
              <a:r>
                <a:rPr lang="en-US" dirty="0"/>
                <a:t>Photo: Ensign Ro, stardate 47955.6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Runbook</a:t>
            </a:r>
          </a:p>
        </p:txBody>
      </p:sp>
      <p:sp>
        <p:nvSpPr>
          <p:cNvPr id="3" name="Code 2"/>
          <p:cNvSpPr>
            <a:spLocks noGrp="1"/>
          </p:cNvSpPr>
          <p:nvPr/>
        </p:nvSpPr>
        <p:spPr>
          <a:xfrm>
            <a:off x="700000" y="1500000"/>
            <a:ext cx="5200000" cy="36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def containment_margin(readings):</a:t>
            </a:r>
          </a:p>
          <a:p>
            <a:r>
              <a:rPr lang="en-US" dirty="0"/>
              <a:t>    total = 0</a:t>
            </a:r>
          </a:p>
          <a:p>
            <a:r>
              <a:rPr lang="en-US" dirty="0"/>
              <a:t>    for r in readings:</a:t>
            </a:r>
          </a:p>
          <a:p>
            <a:r>
              <a:rPr lang="en-US" dirty="0"/>
              <a:t>        if r.stable:</a:t>
            </a:r>
          </a:p>
          <a:p>
            <a:r>
              <a:rPr lang="en-US" dirty="0"/>
              <a:t>            total += r.margin</a:t>
            </a:r>
          </a:p>
          <a:p>
            <a:r>
              <a:rPr lang="en-US" dirty="0"/>
              <a:t>        else:</a:t>
            </a:r>
          </a:p>
          <a:p>
            <a:r>
              <a:rPr lang="en-US" dirty="0"/>
              <a:t>            total -= r.margin * 2</a:t>
            </a:r>
          </a:p>
          <a:p>
            <a:r>
              <a:rPr lang="en-US" dirty="0"/>
              <a:t>    return total / len(readings)</a:t>
            </a:r>
          </a:p>
        </p:txBody>
      </p:sp>
      <p:sp>
        <p:nvSpPr>
          <p:cNvPr id="4" name="Code 3"/>
          <p:cNvSpPr>
            <a:spLocks noGrp="1"/>
          </p:cNvSpPr>
          <p:nvPr/>
        </p:nvSpPr>
        <p:spPr>
          <a:xfrm>
            <a:off x="6300000" y="1500000"/>
            <a:ext cx="5200000" cy="36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Document it like this:</a:t>
            </a:r>
          </a:p>
          <a:p>
            <a:endParaRPr lang="en-US"/>
          </a:p>
          <a:p>
            <a:r>
              <a:rPr lang="en-US" dirty="0"/>
              <a:t>```js</a:t>
            </a:r>
          </a:p>
          <a:p>
            <a:r>
              <a:rPr lang="en-US" dirty="0"/>
              <a:t>warpCore.eject();</a:t>
            </a:r>
          </a:p>
          <a:p>
            <a:r>
              <a:rPr lang="en-US" dirty="0"/>
              <a:t>```</a:t>
            </a:r>
          </a:p>
          <a:p>
            <a:endParaRPr lang="en-US"/>
          </a:p>
          <a:p>
            <a:r>
              <a:rPr lang="en-US" dirty="0"/>
              <a:t>The fence above is three backticks, inside the block.</a:t>
            </a:r>
          </a:p>
        </p:txBody>
      </p:sp>
      <p:sp>
        <p:nvSpPr>
          <p:cNvPr id="5" name="Footer note 4"/>
          <p:cNvSpPr>
            <a:spLocks noGrp="1"/>
          </p:cNvSpPr>
          <p:nvPr/>
        </p:nvSpPr>
        <p:spPr>
          <a:xfrm>
            <a:off x="838200" y="5900000"/>
            <a:ext cx="10515600" cy="5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Call warpCore.eject() only after containment.lock() returns true.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Deck loading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0000" y="1500000"/>
          <a:ext cx="8200000" cy="1854200"/>
        </p:xfrm>
        <a:graphic>
          <a:graphicData uri="http://schemas.openxmlformats.org/drawingml/2006/main/table">
            <a:tbl>
              <a:tblPr firstRow="1" bandRow="1"/>
              <a:tblGrid>
                <a:gridCol w="1800000"/>
                <a:gridCol w="1600000"/>
                <a:gridCol w="1600000"/>
                <a:gridCol w="1600000"/>
                <a:gridCol w="1600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b="1" dirty="0"/>
                        <a:t>Deck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Alpha shift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Beta shift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Crew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Crew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Load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44 %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dirty="0"/>
                        <a:t>Evacuated during the refit — no shift data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31 %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3800000"/>
          <a:ext cx="5000000" cy="1854200"/>
        </p:xfrm>
        <a:graphic>
          <a:graphicData uri="http://schemas.openxmlformats.org/drawingml/2006/main/table">
            <a:tbl>
              <a:tblPr firstRow="1" bandRow="1"/>
              <a:tblGrid>
                <a:gridCol w="2200000"/>
                <a:gridCol w="28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Value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Regex used by the parser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^(warp|impulse|thruster)$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Shell snippet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tricorder --scan | grep dilithium | wc -l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Multi-line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 one of the note.
Line two, same cell.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Empty 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00000" y="3800000"/>
          <a:ext cx="3000000" cy="1854200"/>
        </p:xfrm>
        <a:graphic>
          <a:graphicData uri="http://schemas.openxmlformats.org/drawingml/2006/main/table">
            <a:tbl>
              <a:tblPr firstRow="1" bandRow="1"/>
              <a:tblGrid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Outstanding work orders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Recalibrate the lateral sensor array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Replace EPS conduit, deck 12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Purge the Jefferies tube 17 relay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Refit sequence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700000" y="1500000"/>
          <a:ext cx="10000000" cy="42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0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BACKUP — unapproved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/>
              <a:t>HIDDEN SLIDE MARKER: this string must not appear in default output.</a:t>
            </a:r>
          </a:p>
          <a:p>
            <a:r>
              <a:rPr lang="en-US" dirty="0"/>
              <a:t>Refit quoted at 4.2 million credits, before the Daystrom surcharge.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topia">
  <a:themeElements>
    <a:clrScheme name="Utopi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topia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Utop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